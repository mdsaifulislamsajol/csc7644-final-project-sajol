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10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A7006-E98E-CC57-58B7-3CE6028A82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5F04D0-EE8E-9CD1-39B2-72EC2A324A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15D124-1941-C926-AA63-B578E5863212}"/>
              </a:ext>
            </a:extLst>
          </p:cNvPr>
          <p:cNvSpPr>
            <a:spLocks noGrp="1"/>
          </p:cNvSpPr>
          <p:nvPr>
            <p:ph type="dt" sz="half" idx="10"/>
          </p:nvPr>
        </p:nvSpPr>
        <p:spPr/>
        <p:txBody>
          <a:bodyPr/>
          <a:lstStyle/>
          <a:p>
            <a:fld id="{3BBB803D-B7F2-D14C-A011-15F9D3AF074C}" type="datetimeFigureOut">
              <a:rPr lang="en-US" smtClean="0"/>
              <a:t>9/12/25</a:t>
            </a:fld>
            <a:endParaRPr lang="en-US"/>
          </a:p>
        </p:txBody>
      </p:sp>
      <p:sp>
        <p:nvSpPr>
          <p:cNvPr id="5" name="Footer Placeholder 4">
            <a:extLst>
              <a:ext uri="{FF2B5EF4-FFF2-40B4-BE49-F238E27FC236}">
                <a16:creationId xmlns:a16="http://schemas.microsoft.com/office/drawing/2014/main" id="{8C18F9ED-BDA3-1D55-EA46-13B56216E7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A2F818-4C48-D1F3-92FF-9587A2091AC5}"/>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3912976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7A35A-8624-D355-00A3-6FF22758C6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A62282-666F-A5A3-2B89-67A928E798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919CDA-341D-7F9C-214D-16B559921942}"/>
              </a:ext>
            </a:extLst>
          </p:cNvPr>
          <p:cNvSpPr>
            <a:spLocks noGrp="1"/>
          </p:cNvSpPr>
          <p:nvPr>
            <p:ph type="dt" sz="half" idx="10"/>
          </p:nvPr>
        </p:nvSpPr>
        <p:spPr/>
        <p:txBody>
          <a:bodyPr/>
          <a:lstStyle/>
          <a:p>
            <a:fld id="{3BBB803D-B7F2-D14C-A011-15F9D3AF074C}" type="datetimeFigureOut">
              <a:rPr lang="en-US" smtClean="0"/>
              <a:t>9/12/25</a:t>
            </a:fld>
            <a:endParaRPr lang="en-US"/>
          </a:p>
        </p:txBody>
      </p:sp>
      <p:sp>
        <p:nvSpPr>
          <p:cNvPr id="5" name="Footer Placeholder 4">
            <a:extLst>
              <a:ext uri="{FF2B5EF4-FFF2-40B4-BE49-F238E27FC236}">
                <a16:creationId xmlns:a16="http://schemas.microsoft.com/office/drawing/2014/main" id="{AAEA999D-28B5-6E18-242F-1E41F02F5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E7897E-1E35-5531-E13A-53EF9C3A55CE}"/>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471642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AA4F1-4A5C-6CE3-914C-DF41C236F2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EEA423-F10C-827E-0386-EA8EBDDAA4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D28EA9-0CA6-BCD3-DA5A-3F0194F5F4E3}"/>
              </a:ext>
            </a:extLst>
          </p:cNvPr>
          <p:cNvSpPr>
            <a:spLocks noGrp="1"/>
          </p:cNvSpPr>
          <p:nvPr>
            <p:ph type="dt" sz="half" idx="10"/>
          </p:nvPr>
        </p:nvSpPr>
        <p:spPr/>
        <p:txBody>
          <a:bodyPr/>
          <a:lstStyle/>
          <a:p>
            <a:fld id="{3BBB803D-B7F2-D14C-A011-15F9D3AF074C}" type="datetimeFigureOut">
              <a:rPr lang="en-US" smtClean="0"/>
              <a:t>9/12/25</a:t>
            </a:fld>
            <a:endParaRPr lang="en-US"/>
          </a:p>
        </p:txBody>
      </p:sp>
      <p:sp>
        <p:nvSpPr>
          <p:cNvPr id="5" name="Footer Placeholder 4">
            <a:extLst>
              <a:ext uri="{FF2B5EF4-FFF2-40B4-BE49-F238E27FC236}">
                <a16:creationId xmlns:a16="http://schemas.microsoft.com/office/drawing/2014/main" id="{02582A12-951F-FC1F-22B4-8B6B79B726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1DE09A-8C8D-2971-D83B-36E68E5F7423}"/>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2286881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D7F79-D64B-D9D9-C025-1574A6F4A7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14FD30-9CC1-837A-7F08-9B504379BF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7DBDA2-0E4B-AAB8-3966-4A186FA477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D89693-1518-E010-56EB-C3E518A5FE74}"/>
              </a:ext>
            </a:extLst>
          </p:cNvPr>
          <p:cNvSpPr>
            <a:spLocks noGrp="1"/>
          </p:cNvSpPr>
          <p:nvPr>
            <p:ph type="dt" sz="half" idx="10"/>
          </p:nvPr>
        </p:nvSpPr>
        <p:spPr/>
        <p:txBody>
          <a:bodyPr/>
          <a:lstStyle/>
          <a:p>
            <a:fld id="{3BBB803D-B7F2-D14C-A011-15F9D3AF074C}" type="datetimeFigureOut">
              <a:rPr lang="en-US" smtClean="0"/>
              <a:t>9/12/25</a:t>
            </a:fld>
            <a:endParaRPr lang="en-US"/>
          </a:p>
        </p:txBody>
      </p:sp>
      <p:sp>
        <p:nvSpPr>
          <p:cNvPr id="6" name="Footer Placeholder 5">
            <a:extLst>
              <a:ext uri="{FF2B5EF4-FFF2-40B4-BE49-F238E27FC236}">
                <a16:creationId xmlns:a16="http://schemas.microsoft.com/office/drawing/2014/main" id="{9829EE0C-1F72-31F3-C1C1-4366142E70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6F4C14-C69C-8F47-1E2D-8357E413125B}"/>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2758704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2CCF0-B2B3-F08D-7B5F-A010778B38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FF4126-E669-F73D-FB4B-79C48E8A15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6B2E0D-25C0-8292-8CD1-6B33F61A93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F0B481-D3CB-DE01-2995-A44D4C211B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E7C552-5E53-5399-2AD7-32E84C5E5F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6EE989-DDA4-8187-A1B6-F2630B55CD89}"/>
              </a:ext>
            </a:extLst>
          </p:cNvPr>
          <p:cNvSpPr>
            <a:spLocks noGrp="1"/>
          </p:cNvSpPr>
          <p:nvPr>
            <p:ph type="dt" sz="half" idx="10"/>
          </p:nvPr>
        </p:nvSpPr>
        <p:spPr/>
        <p:txBody>
          <a:bodyPr/>
          <a:lstStyle/>
          <a:p>
            <a:fld id="{3BBB803D-B7F2-D14C-A011-15F9D3AF074C}" type="datetimeFigureOut">
              <a:rPr lang="en-US" smtClean="0"/>
              <a:t>9/12/25</a:t>
            </a:fld>
            <a:endParaRPr lang="en-US"/>
          </a:p>
        </p:txBody>
      </p:sp>
      <p:sp>
        <p:nvSpPr>
          <p:cNvPr id="8" name="Footer Placeholder 7">
            <a:extLst>
              <a:ext uri="{FF2B5EF4-FFF2-40B4-BE49-F238E27FC236}">
                <a16:creationId xmlns:a16="http://schemas.microsoft.com/office/drawing/2014/main" id="{ADB6E150-444E-6F99-E443-3913ECDC2A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A362CE-DB35-EDBD-31C4-146106456B90}"/>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3555990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DFF1D-7FD1-514A-FE28-48155E656C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004B71-18A7-BE46-062E-2F753BF8A04F}"/>
              </a:ext>
            </a:extLst>
          </p:cNvPr>
          <p:cNvSpPr>
            <a:spLocks noGrp="1"/>
          </p:cNvSpPr>
          <p:nvPr>
            <p:ph type="dt" sz="half" idx="10"/>
          </p:nvPr>
        </p:nvSpPr>
        <p:spPr/>
        <p:txBody>
          <a:bodyPr/>
          <a:lstStyle/>
          <a:p>
            <a:fld id="{3BBB803D-B7F2-D14C-A011-15F9D3AF074C}" type="datetimeFigureOut">
              <a:rPr lang="en-US" smtClean="0"/>
              <a:t>9/12/25</a:t>
            </a:fld>
            <a:endParaRPr lang="en-US"/>
          </a:p>
        </p:txBody>
      </p:sp>
      <p:sp>
        <p:nvSpPr>
          <p:cNvPr id="4" name="Footer Placeholder 3">
            <a:extLst>
              <a:ext uri="{FF2B5EF4-FFF2-40B4-BE49-F238E27FC236}">
                <a16:creationId xmlns:a16="http://schemas.microsoft.com/office/drawing/2014/main" id="{3A5FD419-D249-C079-96E2-46C4001DFE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B1FAEE-560E-73B4-C458-EE03120D4092}"/>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35747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FC9ABD-C7F0-02F0-D426-B0FF6FA2C3EF}"/>
              </a:ext>
            </a:extLst>
          </p:cNvPr>
          <p:cNvSpPr>
            <a:spLocks noGrp="1"/>
          </p:cNvSpPr>
          <p:nvPr>
            <p:ph type="dt" sz="half" idx="10"/>
          </p:nvPr>
        </p:nvSpPr>
        <p:spPr/>
        <p:txBody>
          <a:bodyPr/>
          <a:lstStyle/>
          <a:p>
            <a:fld id="{3BBB803D-B7F2-D14C-A011-15F9D3AF074C}" type="datetimeFigureOut">
              <a:rPr lang="en-US" smtClean="0"/>
              <a:t>9/12/25</a:t>
            </a:fld>
            <a:endParaRPr lang="en-US"/>
          </a:p>
        </p:txBody>
      </p:sp>
      <p:sp>
        <p:nvSpPr>
          <p:cNvPr id="3" name="Footer Placeholder 2">
            <a:extLst>
              <a:ext uri="{FF2B5EF4-FFF2-40B4-BE49-F238E27FC236}">
                <a16:creationId xmlns:a16="http://schemas.microsoft.com/office/drawing/2014/main" id="{37017D44-A2EC-22AA-5F2E-F4288CB451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3A641D-A084-977D-0686-8D70BBF041D6}"/>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2127336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93F01-CD51-8CBE-9440-A52239599A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B7074B-DF91-0704-4BAD-D42D0C9AE0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EA8609-E9F5-208B-71CC-44D614016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A97727-CF2A-CAC1-D70A-F586524378BF}"/>
              </a:ext>
            </a:extLst>
          </p:cNvPr>
          <p:cNvSpPr>
            <a:spLocks noGrp="1"/>
          </p:cNvSpPr>
          <p:nvPr>
            <p:ph type="dt" sz="half" idx="10"/>
          </p:nvPr>
        </p:nvSpPr>
        <p:spPr/>
        <p:txBody>
          <a:bodyPr/>
          <a:lstStyle/>
          <a:p>
            <a:fld id="{3BBB803D-B7F2-D14C-A011-15F9D3AF074C}" type="datetimeFigureOut">
              <a:rPr lang="en-US" smtClean="0"/>
              <a:t>9/12/25</a:t>
            </a:fld>
            <a:endParaRPr lang="en-US"/>
          </a:p>
        </p:txBody>
      </p:sp>
      <p:sp>
        <p:nvSpPr>
          <p:cNvPr id="6" name="Footer Placeholder 5">
            <a:extLst>
              <a:ext uri="{FF2B5EF4-FFF2-40B4-BE49-F238E27FC236}">
                <a16:creationId xmlns:a16="http://schemas.microsoft.com/office/drawing/2014/main" id="{2C5938EF-D661-DA1A-FEE6-FE0E3ED8B4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FA4657-FD66-DAE6-08E6-5D3182F848B3}"/>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4275727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6291A-64CD-DB18-A1BF-8A0B5343F1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45E7D3-012A-F472-4D02-DE9C1F00AD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FBC906-8F51-523B-B07A-2E7C55E383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70E6B7-FCE1-C4BD-CEC6-1CCEECC0B4AF}"/>
              </a:ext>
            </a:extLst>
          </p:cNvPr>
          <p:cNvSpPr>
            <a:spLocks noGrp="1"/>
          </p:cNvSpPr>
          <p:nvPr>
            <p:ph type="dt" sz="half" idx="10"/>
          </p:nvPr>
        </p:nvSpPr>
        <p:spPr/>
        <p:txBody>
          <a:bodyPr/>
          <a:lstStyle/>
          <a:p>
            <a:fld id="{3BBB803D-B7F2-D14C-A011-15F9D3AF074C}" type="datetimeFigureOut">
              <a:rPr lang="en-US" smtClean="0"/>
              <a:t>9/12/25</a:t>
            </a:fld>
            <a:endParaRPr lang="en-US"/>
          </a:p>
        </p:txBody>
      </p:sp>
      <p:sp>
        <p:nvSpPr>
          <p:cNvPr id="6" name="Footer Placeholder 5">
            <a:extLst>
              <a:ext uri="{FF2B5EF4-FFF2-40B4-BE49-F238E27FC236}">
                <a16:creationId xmlns:a16="http://schemas.microsoft.com/office/drawing/2014/main" id="{871A209E-27FE-0773-7C4B-CEBC92522D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E13814-322F-88AC-BDFA-4E9EC9959CE8}"/>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2349236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4D9B5-2638-5040-37C6-CD014F4102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F1194C-40E5-7A0D-FFD2-DAD51A0529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B26188-7928-3BE0-412F-E27136C3BFF3}"/>
              </a:ext>
            </a:extLst>
          </p:cNvPr>
          <p:cNvSpPr>
            <a:spLocks noGrp="1"/>
          </p:cNvSpPr>
          <p:nvPr>
            <p:ph type="dt" sz="half" idx="10"/>
          </p:nvPr>
        </p:nvSpPr>
        <p:spPr/>
        <p:txBody>
          <a:bodyPr/>
          <a:lstStyle/>
          <a:p>
            <a:fld id="{3BBB803D-B7F2-D14C-A011-15F9D3AF074C}" type="datetimeFigureOut">
              <a:rPr lang="en-US" smtClean="0"/>
              <a:t>9/12/25</a:t>
            </a:fld>
            <a:endParaRPr lang="en-US"/>
          </a:p>
        </p:txBody>
      </p:sp>
      <p:sp>
        <p:nvSpPr>
          <p:cNvPr id="5" name="Footer Placeholder 4">
            <a:extLst>
              <a:ext uri="{FF2B5EF4-FFF2-40B4-BE49-F238E27FC236}">
                <a16:creationId xmlns:a16="http://schemas.microsoft.com/office/drawing/2014/main" id="{81D744D5-E27A-809A-1AF7-3D31456AE2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3B6A23-2053-DD65-E19A-BE22691FE96A}"/>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3947749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39525B-3420-FB6E-7D10-4B3DB04C01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8BBA8D-368E-2CDA-7AC7-7924B2D11B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FCF1A3-4C98-9C3A-FA9B-59C7069FDEA4}"/>
              </a:ext>
            </a:extLst>
          </p:cNvPr>
          <p:cNvSpPr>
            <a:spLocks noGrp="1"/>
          </p:cNvSpPr>
          <p:nvPr>
            <p:ph type="dt" sz="half" idx="10"/>
          </p:nvPr>
        </p:nvSpPr>
        <p:spPr/>
        <p:txBody>
          <a:bodyPr/>
          <a:lstStyle/>
          <a:p>
            <a:fld id="{3BBB803D-B7F2-D14C-A011-15F9D3AF074C}" type="datetimeFigureOut">
              <a:rPr lang="en-US" smtClean="0"/>
              <a:t>9/12/25</a:t>
            </a:fld>
            <a:endParaRPr lang="en-US"/>
          </a:p>
        </p:txBody>
      </p:sp>
      <p:sp>
        <p:nvSpPr>
          <p:cNvPr id="5" name="Footer Placeholder 4">
            <a:extLst>
              <a:ext uri="{FF2B5EF4-FFF2-40B4-BE49-F238E27FC236}">
                <a16:creationId xmlns:a16="http://schemas.microsoft.com/office/drawing/2014/main" id="{0990A251-EFE5-5BB7-90F3-0DACFB930D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AFBE6F-AB22-5891-6017-1E906432840D}"/>
              </a:ext>
            </a:extLst>
          </p:cNvPr>
          <p:cNvSpPr>
            <a:spLocks noGrp="1"/>
          </p:cNvSpPr>
          <p:nvPr>
            <p:ph type="sldNum" sz="quarter" idx="12"/>
          </p:nvPr>
        </p:nvSpPr>
        <p:spPr/>
        <p:txBody>
          <a:bodyPr/>
          <a:lstStyle/>
          <a:p>
            <a:fld id="{7363E25E-D229-E84A-84DD-83D9D8018263}" type="slidenum">
              <a:rPr lang="en-US" smtClean="0"/>
              <a:t>‹#›</a:t>
            </a:fld>
            <a:endParaRPr lang="en-US"/>
          </a:p>
        </p:txBody>
      </p:sp>
    </p:spTree>
    <p:extLst>
      <p:ext uri="{BB962C8B-B14F-4D97-AF65-F5344CB8AC3E}">
        <p14:creationId xmlns:p14="http://schemas.microsoft.com/office/powerpoint/2010/main" val="4080315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D2AD6F-2AC8-CA1D-9C34-762876730E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30CC94-214D-8020-A83A-0DA53DABD4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9AA69D-ACEE-37E5-A737-5AE12982D1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BB803D-B7F2-D14C-A011-15F9D3AF074C}" type="datetimeFigureOut">
              <a:rPr lang="en-US" smtClean="0"/>
              <a:t>9/12/25</a:t>
            </a:fld>
            <a:endParaRPr lang="en-US"/>
          </a:p>
        </p:txBody>
      </p:sp>
      <p:sp>
        <p:nvSpPr>
          <p:cNvPr id="5" name="Footer Placeholder 4">
            <a:extLst>
              <a:ext uri="{FF2B5EF4-FFF2-40B4-BE49-F238E27FC236}">
                <a16:creationId xmlns:a16="http://schemas.microsoft.com/office/drawing/2014/main" id="{80FAC866-39B1-E8F8-D62A-457ED4D09B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3DAEA5-89BC-3D88-3667-A188500E13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63E25E-D229-E84A-84DD-83D9D8018263}" type="slidenum">
              <a:rPr lang="en-US" smtClean="0"/>
              <a:t>‹#›</a:t>
            </a:fld>
            <a:endParaRPr lang="en-US"/>
          </a:p>
        </p:txBody>
      </p:sp>
    </p:spTree>
    <p:extLst>
      <p:ext uri="{BB962C8B-B14F-4D97-AF65-F5344CB8AC3E}">
        <p14:creationId xmlns:p14="http://schemas.microsoft.com/office/powerpoint/2010/main" val="1435513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BD27A-D36D-591D-29F0-1F0470E6291E}"/>
              </a:ext>
            </a:extLst>
          </p:cNvPr>
          <p:cNvSpPr>
            <a:spLocks noGrp="1"/>
          </p:cNvSpPr>
          <p:nvPr>
            <p:ph type="ctrTitle"/>
          </p:nvPr>
        </p:nvSpPr>
        <p:spPr>
          <a:xfrm>
            <a:off x="199697" y="1"/>
            <a:ext cx="11866174" cy="662151"/>
          </a:xfrm>
        </p:spPr>
        <p:txBody>
          <a:bodyPr>
            <a:noAutofit/>
          </a:bodyPr>
          <a:lstStyle/>
          <a:p>
            <a:r>
              <a:rPr lang="en-US" sz="4400" b="1" dirty="0">
                <a:solidFill>
                  <a:srgbClr val="3C1053"/>
                </a:solidFill>
              </a:rPr>
              <a:t>Proposed Project Title</a:t>
            </a:r>
          </a:p>
        </p:txBody>
      </p:sp>
      <p:cxnSp>
        <p:nvCxnSpPr>
          <p:cNvPr id="5" name="Straight Connector 4">
            <a:extLst>
              <a:ext uri="{FF2B5EF4-FFF2-40B4-BE49-F238E27FC236}">
                <a16:creationId xmlns:a16="http://schemas.microsoft.com/office/drawing/2014/main" id="{6BAB4D92-3FC9-B632-F5B4-8F49A5DB6023}"/>
              </a:ext>
            </a:extLst>
          </p:cNvPr>
          <p:cNvCxnSpPr>
            <a:cxnSpLocks/>
          </p:cNvCxnSpPr>
          <p:nvPr/>
        </p:nvCxnSpPr>
        <p:spPr>
          <a:xfrm>
            <a:off x="6096000" y="1234305"/>
            <a:ext cx="0" cy="5512484"/>
          </a:xfrm>
          <a:prstGeom prst="line">
            <a:avLst/>
          </a:prstGeom>
          <a:ln w="28575">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04BA938-9A6D-DA2E-F533-38B84A110683}"/>
              </a:ext>
            </a:extLst>
          </p:cNvPr>
          <p:cNvCxnSpPr>
            <a:cxnSpLocks/>
          </p:cNvCxnSpPr>
          <p:nvPr/>
        </p:nvCxnSpPr>
        <p:spPr>
          <a:xfrm>
            <a:off x="199697" y="4056990"/>
            <a:ext cx="11866174" cy="0"/>
          </a:xfrm>
          <a:prstGeom prst="line">
            <a:avLst/>
          </a:prstGeom>
          <a:ln w="28575">
            <a:solidFill>
              <a:srgbClr val="7030A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4B28D7F-884C-C5FA-A457-A97E6B230ACA}"/>
              </a:ext>
            </a:extLst>
          </p:cNvPr>
          <p:cNvSpPr txBox="1"/>
          <p:nvPr/>
        </p:nvSpPr>
        <p:spPr>
          <a:xfrm>
            <a:off x="1597571" y="1234305"/>
            <a:ext cx="2800447" cy="369332"/>
          </a:xfrm>
          <a:prstGeom prst="rect">
            <a:avLst/>
          </a:prstGeom>
          <a:noFill/>
        </p:spPr>
        <p:txBody>
          <a:bodyPr wrap="none" rtlCol="0">
            <a:spAutoFit/>
          </a:bodyPr>
          <a:lstStyle/>
          <a:p>
            <a:pPr algn="ctr"/>
            <a:r>
              <a:rPr lang="en-US" b="1" dirty="0">
                <a:solidFill>
                  <a:srgbClr val="3C1053"/>
                </a:solidFill>
              </a:rPr>
              <a:t>Background &amp; Motivation</a:t>
            </a:r>
          </a:p>
        </p:txBody>
      </p:sp>
      <p:sp>
        <p:nvSpPr>
          <p:cNvPr id="10" name="TextBox 9">
            <a:extLst>
              <a:ext uri="{FF2B5EF4-FFF2-40B4-BE49-F238E27FC236}">
                <a16:creationId xmlns:a16="http://schemas.microsoft.com/office/drawing/2014/main" id="{8C8D7ED3-843C-E9FE-53A0-EE4768B01EFA}"/>
              </a:ext>
            </a:extLst>
          </p:cNvPr>
          <p:cNvSpPr txBox="1"/>
          <p:nvPr/>
        </p:nvSpPr>
        <p:spPr>
          <a:xfrm>
            <a:off x="1402686" y="4121189"/>
            <a:ext cx="3190232" cy="369332"/>
          </a:xfrm>
          <a:prstGeom prst="rect">
            <a:avLst/>
          </a:prstGeom>
          <a:noFill/>
        </p:spPr>
        <p:txBody>
          <a:bodyPr wrap="none" rtlCol="0">
            <a:spAutoFit/>
          </a:bodyPr>
          <a:lstStyle/>
          <a:p>
            <a:pPr algn="ctr"/>
            <a:r>
              <a:rPr lang="en-US" b="1" dirty="0">
                <a:solidFill>
                  <a:srgbClr val="3C1053"/>
                </a:solidFill>
              </a:rPr>
              <a:t>Possible Technical Approach</a:t>
            </a:r>
          </a:p>
        </p:txBody>
      </p:sp>
      <p:sp>
        <p:nvSpPr>
          <p:cNvPr id="13" name="TextBox 12">
            <a:extLst>
              <a:ext uri="{FF2B5EF4-FFF2-40B4-BE49-F238E27FC236}">
                <a16:creationId xmlns:a16="http://schemas.microsoft.com/office/drawing/2014/main" id="{ECE22DC1-B519-24C1-2BCC-5C083F1A1019}"/>
              </a:ext>
            </a:extLst>
          </p:cNvPr>
          <p:cNvSpPr txBox="1"/>
          <p:nvPr/>
        </p:nvSpPr>
        <p:spPr>
          <a:xfrm>
            <a:off x="8133998" y="1234305"/>
            <a:ext cx="2284280" cy="369332"/>
          </a:xfrm>
          <a:prstGeom prst="rect">
            <a:avLst/>
          </a:prstGeom>
          <a:noFill/>
        </p:spPr>
        <p:txBody>
          <a:bodyPr wrap="none" rtlCol="0">
            <a:spAutoFit/>
          </a:bodyPr>
          <a:lstStyle/>
          <a:p>
            <a:pPr algn="ctr"/>
            <a:r>
              <a:rPr lang="en-US" b="1" dirty="0">
                <a:solidFill>
                  <a:srgbClr val="3C1053"/>
                </a:solidFill>
              </a:rPr>
              <a:t>Data and Resources</a:t>
            </a:r>
          </a:p>
        </p:txBody>
      </p:sp>
      <p:sp>
        <p:nvSpPr>
          <p:cNvPr id="14" name="TextBox 13">
            <a:extLst>
              <a:ext uri="{FF2B5EF4-FFF2-40B4-BE49-F238E27FC236}">
                <a16:creationId xmlns:a16="http://schemas.microsoft.com/office/drawing/2014/main" id="{90F5EAA2-693E-A3E6-6AAB-541DCA45C316}"/>
              </a:ext>
            </a:extLst>
          </p:cNvPr>
          <p:cNvSpPr txBox="1"/>
          <p:nvPr/>
        </p:nvSpPr>
        <p:spPr>
          <a:xfrm>
            <a:off x="8091137" y="4121189"/>
            <a:ext cx="2370008" cy="369332"/>
          </a:xfrm>
          <a:prstGeom prst="rect">
            <a:avLst/>
          </a:prstGeom>
          <a:noFill/>
        </p:spPr>
        <p:txBody>
          <a:bodyPr wrap="none" rtlCol="0">
            <a:spAutoFit/>
          </a:bodyPr>
          <a:lstStyle/>
          <a:p>
            <a:pPr algn="ctr"/>
            <a:r>
              <a:rPr lang="en-US" b="1" dirty="0">
                <a:solidFill>
                  <a:srgbClr val="3C1053"/>
                </a:solidFill>
              </a:rPr>
              <a:t>Impact &amp; References</a:t>
            </a:r>
          </a:p>
        </p:txBody>
      </p:sp>
      <p:sp>
        <p:nvSpPr>
          <p:cNvPr id="15" name="TextBox 14">
            <a:extLst>
              <a:ext uri="{FF2B5EF4-FFF2-40B4-BE49-F238E27FC236}">
                <a16:creationId xmlns:a16="http://schemas.microsoft.com/office/drawing/2014/main" id="{6F6E11F8-EFE4-D1CC-FE77-A0829277FA45}"/>
              </a:ext>
            </a:extLst>
          </p:cNvPr>
          <p:cNvSpPr txBox="1"/>
          <p:nvPr/>
        </p:nvSpPr>
        <p:spPr>
          <a:xfrm>
            <a:off x="199697" y="573213"/>
            <a:ext cx="11866174"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solidFill>
                  <a:srgbClr val="3C1053"/>
                </a:solidFill>
              </a:rPr>
              <a:t>Bottom Line Up Front: </a:t>
            </a:r>
            <a:r>
              <a:rPr lang="en-US" dirty="0">
                <a:solidFill>
                  <a:srgbClr val="3C1053"/>
                </a:solidFill>
              </a:rPr>
              <a:t>One to two sentences of what you propose to do and the possible approach.</a:t>
            </a:r>
            <a:endParaRPr lang="en-US" b="1" dirty="0">
              <a:solidFill>
                <a:srgbClr val="3C1053"/>
              </a:solidFill>
            </a:endParaRPr>
          </a:p>
        </p:txBody>
      </p:sp>
      <p:sp>
        <p:nvSpPr>
          <p:cNvPr id="16" name="TextBox 15">
            <a:extLst>
              <a:ext uri="{FF2B5EF4-FFF2-40B4-BE49-F238E27FC236}">
                <a16:creationId xmlns:a16="http://schemas.microsoft.com/office/drawing/2014/main" id="{D47F85D1-3D2E-7DF5-D01E-2A0296E23495}"/>
              </a:ext>
            </a:extLst>
          </p:cNvPr>
          <p:cNvSpPr txBox="1"/>
          <p:nvPr/>
        </p:nvSpPr>
        <p:spPr>
          <a:xfrm>
            <a:off x="48667" y="1667835"/>
            <a:ext cx="5898254" cy="738664"/>
          </a:xfrm>
          <a:prstGeom prst="rect">
            <a:avLst/>
          </a:prstGeom>
          <a:noFill/>
        </p:spPr>
        <p:txBody>
          <a:bodyPr wrap="square" rtlCol="0">
            <a:spAutoFit/>
          </a:bodyPr>
          <a:lstStyle/>
          <a:p>
            <a:r>
              <a:rPr lang="en-US" sz="1400" dirty="0">
                <a:solidFill>
                  <a:srgbClr val="3C1053"/>
                </a:solidFill>
              </a:rPr>
              <a:t>Bullet points of the underlying problem you are trying to solve, how it is traditionally solved, and why you are motivated to build an AI solution for it.</a:t>
            </a:r>
          </a:p>
        </p:txBody>
      </p:sp>
      <p:sp>
        <p:nvSpPr>
          <p:cNvPr id="19" name="TextBox 18">
            <a:extLst>
              <a:ext uri="{FF2B5EF4-FFF2-40B4-BE49-F238E27FC236}">
                <a16:creationId xmlns:a16="http://schemas.microsoft.com/office/drawing/2014/main" id="{1AB0F8D2-8DE5-4972-DA09-5FC9752E8B14}"/>
              </a:ext>
            </a:extLst>
          </p:cNvPr>
          <p:cNvSpPr txBox="1"/>
          <p:nvPr/>
        </p:nvSpPr>
        <p:spPr>
          <a:xfrm>
            <a:off x="48667" y="4490520"/>
            <a:ext cx="5898254" cy="2462213"/>
          </a:xfrm>
          <a:prstGeom prst="rect">
            <a:avLst/>
          </a:prstGeom>
          <a:noFill/>
        </p:spPr>
        <p:txBody>
          <a:bodyPr wrap="square" rtlCol="0">
            <a:spAutoFit/>
          </a:bodyPr>
          <a:lstStyle/>
          <a:p>
            <a:r>
              <a:rPr lang="en-US" sz="1400" dirty="0">
                <a:solidFill>
                  <a:srgbClr val="3C1053"/>
                </a:solidFill>
              </a:rPr>
              <a:t>Provide a concise overview of possible technical approaches that you will explore. Include possible LLMs that you will use. Are you using a simple prompting approach, RAG, agentic systems, or fine-tuning? If fine-tuning a model, provide which ones you might try (Llama 3.1 8B, Qwen, DeepSeek, etc.)?  Justify your design decisions.</a:t>
            </a:r>
          </a:p>
          <a:p>
            <a:endParaRPr lang="en-US" sz="1400" dirty="0">
              <a:solidFill>
                <a:srgbClr val="3C1053"/>
              </a:solidFill>
            </a:endParaRPr>
          </a:p>
          <a:p>
            <a:r>
              <a:rPr lang="en-US" sz="1400" dirty="0">
                <a:solidFill>
                  <a:srgbClr val="3C1053"/>
                </a:solidFill>
              </a:rPr>
              <a:t>How will users interact with you AI? Is it a web-based app, mobile app, API service, etc.?</a:t>
            </a:r>
          </a:p>
          <a:p>
            <a:endParaRPr lang="en-US" sz="1400" dirty="0">
              <a:solidFill>
                <a:srgbClr val="3C1053"/>
              </a:solidFill>
            </a:endParaRPr>
          </a:p>
          <a:p>
            <a:r>
              <a:rPr lang="en-US" sz="1400" dirty="0">
                <a:solidFill>
                  <a:srgbClr val="3C1053"/>
                </a:solidFill>
              </a:rPr>
              <a:t>This will likely to change as you work on the project, but I want to see initial thoughts.</a:t>
            </a:r>
          </a:p>
        </p:txBody>
      </p:sp>
      <p:sp>
        <p:nvSpPr>
          <p:cNvPr id="20" name="TextBox 19">
            <a:extLst>
              <a:ext uri="{FF2B5EF4-FFF2-40B4-BE49-F238E27FC236}">
                <a16:creationId xmlns:a16="http://schemas.microsoft.com/office/drawing/2014/main" id="{4388EBE6-7388-3DE2-433D-D2EDCC106706}"/>
              </a:ext>
            </a:extLst>
          </p:cNvPr>
          <p:cNvSpPr txBox="1"/>
          <p:nvPr/>
        </p:nvSpPr>
        <p:spPr>
          <a:xfrm>
            <a:off x="6290900" y="4490520"/>
            <a:ext cx="5898254" cy="1169551"/>
          </a:xfrm>
          <a:prstGeom prst="rect">
            <a:avLst/>
          </a:prstGeom>
          <a:noFill/>
        </p:spPr>
        <p:txBody>
          <a:bodyPr wrap="square" rtlCol="0">
            <a:spAutoFit/>
          </a:bodyPr>
          <a:lstStyle/>
          <a:p>
            <a:r>
              <a:rPr lang="en-US" sz="1400" dirty="0">
                <a:solidFill>
                  <a:srgbClr val="3C1053"/>
                </a:solidFill>
              </a:rPr>
              <a:t>If your project is successful, what impact would it have?</a:t>
            </a:r>
          </a:p>
          <a:p>
            <a:endParaRPr lang="en-US" sz="1400" dirty="0">
              <a:solidFill>
                <a:srgbClr val="3C1053"/>
              </a:solidFill>
            </a:endParaRPr>
          </a:p>
          <a:p>
            <a:r>
              <a:rPr lang="en-US" sz="1400" dirty="0">
                <a:solidFill>
                  <a:srgbClr val="3C1053"/>
                </a:solidFill>
              </a:rPr>
              <a:t>List any references in APA format, if applicable.</a:t>
            </a:r>
          </a:p>
          <a:p>
            <a:endParaRPr lang="en-US" sz="1400" dirty="0">
              <a:solidFill>
                <a:srgbClr val="3C1053"/>
              </a:solidFill>
            </a:endParaRPr>
          </a:p>
          <a:p>
            <a:r>
              <a:rPr lang="en-US" sz="1400" dirty="0">
                <a:solidFill>
                  <a:srgbClr val="3C1053"/>
                </a:solidFill>
              </a:rPr>
              <a:t>Can also include an image here.</a:t>
            </a:r>
          </a:p>
        </p:txBody>
      </p:sp>
      <p:sp>
        <p:nvSpPr>
          <p:cNvPr id="21" name="TextBox 20">
            <a:extLst>
              <a:ext uri="{FF2B5EF4-FFF2-40B4-BE49-F238E27FC236}">
                <a16:creationId xmlns:a16="http://schemas.microsoft.com/office/drawing/2014/main" id="{3C89E786-E238-2D31-56BC-0DA00EB48F34}"/>
              </a:ext>
            </a:extLst>
          </p:cNvPr>
          <p:cNvSpPr txBox="1"/>
          <p:nvPr/>
        </p:nvSpPr>
        <p:spPr>
          <a:xfrm>
            <a:off x="6327009" y="1617559"/>
            <a:ext cx="5816324" cy="738664"/>
          </a:xfrm>
          <a:prstGeom prst="rect">
            <a:avLst/>
          </a:prstGeom>
          <a:noFill/>
        </p:spPr>
        <p:txBody>
          <a:bodyPr wrap="square" rtlCol="0">
            <a:spAutoFit/>
          </a:bodyPr>
          <a:lstStyle/>
          <a:p>
            <a:r>
              <a:rPr lang="en-US" sz="1400" dirty="0">
                <a:solidFill>
                  <a:srgbClr val="3C1053"/>
                </a:solidFill>
              </a:rPr>
              <a:t>Describe what data, APIs, or external resources you will use. Clarify whether these are provided datasets, your own collected data, or public sources. If you plan to use external APIs, name them.</a:t>
            </a:r>
          </a:p>
        </p:txBody>
      </p:sp>
    </p:spTree>
    <p:extLst>
      <p:ext uri="{BB962C8B-B14F-4D97-AF65-F5344CB8AC3E}">
        <p14:creationId xmlns:p14="http://schemas.microsoft.com/office/powerpoint/2010/main" val="1350044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241</Words>
  <Application>Microsoft Macintosh PowerPoint</Application>
  <PresentationFormat>Widescreen</PresentationFormat>
  <Paragraphs>18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Proposed Project 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M Ghawaly</dc:creator>
  <cp:lastModifiedBy>James M Ghawaly Jr.</cp:lastModifiedBy>
  <cp:revision>2</cp:revision>
  <dcterms:created xsi:type="dcterms:W3CDTF">2025-03-26T15:51:53Z</dcterms:created>
  <dcterms:modified xsi:type="dcterms:W3CDTF">2025-09-13T01:04:11Z</dcterms:modified>
</cp:coreProperties>
</file>